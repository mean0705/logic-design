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1" r:id="rId6"/>
    <p:sldId id="260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152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22" name="副標題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2019/12/3</a:t>
            </a:fld>
            <a:endParaRPr lang="zh-TW" altLang="en-US"/>
          </a:p>
        </p:txBody>
      </p:sp>
      <p:sp>
        <p:nvSpPr>
          <p:cNvPr id="20" name="頁尾版面配置區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2019/12/3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2019/12/3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2019/12/3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2019/12/3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2019/12/3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2019/12/3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2019/12/3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2019/12/3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9" name="流程圖: 程序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流程圖: 程序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2019/12/3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2019/12/3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形圖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甜甜圈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文字版面配置區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24" name="日期版面配置區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BBEAD13-0566-4C6C-97E7-55F17F24B09F}" type="datetimeFigureOut">
              <a:rPr lang="zh-TW" altLang="en-US" smtClean="0"/>
              <a:pPr/>
              <a:t>2019/12/3</a:t>
            </a:fld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87624" y="1412776"/>
            <a:ext cx="7406640" cy="1472184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+mn-ea"/>
                <a:ea typeface="+mn-ea"/>
              </a:rPr>
              <a:t>Project </a:t>
            </a:r>
            <a:r>
              <a:rPr lang="zh-TW" altLang="en-US" sz="4400" dirty="0" smtClean="0">
                <a:latin typeface="+mn-ea"/>
                <a:ea typeface="+mn-ea"/>
              </a:rPr>
              <a:t>自動販賣機</a:t>
            </a:r>
            <a:endParaRPr lang="zh-TW" altLang="en-US" dirty="0">
              <a:latin typeface="+mn-ea"/>
              <a:ea typeface="+mn-ea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75656" y="3429000"/>
            <a:ext cx="7406640" cy="1752600"/>
          </a:xfrm>
        </p:spPr>
        <p:txBody>
          <a:bodyPr/>
          <a:lstStyle/>
          <a:p>
            <a:endParaRPr lang="en-US" altLang="zh-TW" dirty="0" smtClean="0"/>
          </a:p>
          <a:p>
            <a:pPr algn="ctr"/>
            <a:r>
              <a:rPr lang="zh-TW" altLang="en-US" dirty="0" smtClean="0">
                <a:solidFill>
                  <a:schemeClr val="tx2"/>
                </a:solidFill>
                <a:latin typeface="+mn-ea"/>
              </a:rPr>
              <a:t>邏輯設計實驗</a:t>
            </a:r>
            <a:endParaRPr lang="en-US" altLang="zh-TW" dirty="0" smtClean="0">
              <a:solidFill>
                <a:schemeClr val="tx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說明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利用</a:t>
            </a:r>
            <a:r>
              <a:rPr lang="zh-TW" altLang="en-US" dirty="0" smtClean="0">
                <a:solidFill>
                  <a:srgbClr val="FF0000"/>
                </a:solidFill>
              </a:rPr>
              <a:t>有限狀態機</a:t>
            </a:r>
            <a:r>
              <a:rPr lang="zh-TW" altLang="en-US" dirty="0" smtClean="0"/>
              <a:t>的方法模擬出自動販賣機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/>
        </p:nvGraphicFramePr>
        <p:xfrm>
          <a:off x="3203848" y="1988840"/>
          <a:ext cx="4392488" cy="4685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Visio" r:id="rId3" imgW="5998842" imgH="6399270" progId="Visio.Drawing.11">
                  <p:embed/>
                </p:oleObj>
              </mc:Choice>
              <mc:Fallback>
                <p:oleObj name="Visio" r:id="rId3" imgW="5998842" imgH="6399270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1988840"/>
                        <a:ext cx="4392488" cy="46853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7308304" y="2492896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S0</a:t>
            </a:r>
            <a:endParaRPr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308304" y="5949280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endParaRPr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99792" y="5949280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endParaRPr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99792" y="2492896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S3</a:t>
            </a:r>
            <a:endParaRPr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說明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開始投錢 （要顯示已投入多少錢）                        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//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初始狀態 </a:t>
            </a:r>
            <a:r>
              <a:rPr lang="en-US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(S0)</a:t>
            </a:r>
          </a:p>
          <a:p>
            <a:pPr>
              <a:defRPr/>
            </a:pP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當零錢到達飲料最低金額時，開始顯示可購買飲料名稱 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//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選擇狀態 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S1)</a:t>
            </a:r>
          </a:p>
          <a:p>
            <a:pPr>
              <a:defRPr/>
            </a:pP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當選擇飲料後輸出飲料名稱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給予狀態  </a:t>
            </a:r>
            <a:r>
              <a:rPr lang="en-US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(S2)</a:t>
            </a:r>
          </a:p>
          <a:p>
            <a:pPr>
              <a:defRPr/>
            </a:pP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找回零錢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  <a:defRPr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//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結帳狀態  </a:t>
            </a:r>
            <a:r>
              <a:rPr lang="en-US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(S3)</a:t>
            </a:r>
          </a:p>
          <a:p>
            <a:pPr>
              <a:defRPr/>
            </a:pP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當退幣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(reset)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時  必須退出所有已輸入的零錢 回到初始的狀態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//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取消購買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(S0)</a:t>
            </a:r>
            <a:endParaRPr lang="en-US" altLang="zh-TW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說明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可以投入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元、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元、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元、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(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不可同時投入多個硬幣，</a:t>
            </a:r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例如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一次投入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個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元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TW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可以選擇的飲料共有</a:t>
            </a:r>
            <a:r>
              <a:rPr lang="zh-TW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四</a:t>
            </a:r>
            <a:r>
              <a:rPr lang="zh-TW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種</a:t>
            </a:r>
            <a:r>
              <a:rPr lang="en-US" altLang="zh-TW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</a:t>
            </a:r>
            <a:r>
              <a:rPr lang="zh-TW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coke</a:t>
            </a:r>
            <a:r>
              <a:rPr lang="zh-TW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coffee</a:t>
            </a:r>
            <a:r>
              <a:rPr lang="zh-TW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milk</a:t>
            </a:r>
            <a:r>
              <a:rPr lang="zh-TW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價格分別為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元、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元、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元、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測試</a:t>
            </a:r>
            <a:r>
              <a:rPr lang="zh-TW" altLang="en-US"/>
              <a:t>數據</a:t>
            </a:r>
            <a:r>
              <a:rPr lang="zh-TW" altLang="en-US" smtClean="0"/>
              <a:t>範例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87732" y="1417638"/>
            <a:ext cx="7600888" cy="4933528"/>
          </a:xfrm>
        </p:spPr>
        <p:txBody>
          <a:bodyPr>
            <a:normAutofit lnSpcReduction="10000"/>
          </a:bodyPr>
          <a:lstStyle/>
          <a:p>
            <a:pPr marL="82296" indent="0">
              <a:buNone/>
            </a:pPr>
            <a:r>
              <a:rPr lang="en-US" altLang="zh-TW" sz="1400" smtClean="0"/>
              <a:t>module stimulus ;</a:t>
            </a:r>
          </a:p>
          <a:p>
            <a:pPr marL="82296" indent="0">
              <a:buNone/>
            </a:pPr>
            <a:r>
              <a:rPr lang="en-US" altLang="zh-TW" sz="1400" smtClean="0"/>
              <a:t>/***</a:t>
            </a:r>
          </a:p>
          <a:p>
            <a:pPr marL="82296" indent="0">
              <a:buNone/>
            </a:pPr>
            <a:r>
              <a:rPr lang="en-US" altLang="zh-TW" sz="1400" smtClean="0"/>
              <a:t>reg wire</a:t>
            </a:r>
            <a:r>
              <a:rPr lang="zh-TW" altLang="en-US" sz="1400" smtClean="0"/>
              <a:t> </a:t>
            </a:r>
            <a:r>
              <a:rPr lang="en-US" altLang="zh-TW" sz="1400" smtClean="0"/>
              <a:t>clk declare</a:t>
            </a:r>
          </a:p>
          <a:p>
            <a:pPr marL="82296" indent="0">
              <a:buNone/>
            </a:pPr>
            <a:r>
              <a:rPr lang="en-US" altLang="zh-TW" sz="1400" smtClean="0"/>
              <a:t>***</a:t>
            </a:r>
          </a:p>
          <a:p>
            <a:pPr marL="82296" indent="0">
              <a:buNone/>
            </a:pPr>
            <a:r>
              <a:rPr lang="en-US" altLang="zh-TW" sz="1400" smtClean="0"/>
              <a:t>/initial			</a:t>
            </a:r>
            <a:r>
              <a:rPr lang="zh-TW" altLang="en-US" sz="1400" smtClean="0">
                <a:solidFill>
                  <a:srgbClr val="0070C0"/>
                </a:solidFill>
              </a:rPr>
              <a:t>螢幕輸出</a:t>
            </a:r>
            <a:r>
              <a:rPr lang="en-US" altLang="zh-TW" sz="1400" smtClean="0">
                <a:solidFill>
                  <a:srgbClr val="0070C0"/>
                </a:solidFill>
              </a:rPr>
              <a:t>(display or monitor)</a:t>
            </a:r>
          </a:p>
          <a:p>
            <a:pPr marL="82296" indent="0">
              <a:buNone/>
            </a:pPr>
            <a:r>
              <a:rPr lang="en-US" altLang="zh-TW" sz="1400" smtClean="0"/>
              <a:t>begin</a:t>
            </a:r>
          </a:p>
          <a:p>
            <a:pPr marL="82296" indent="0">
              <a:buNone/>
            </a:pPr>
            <a:r>
              <a:rPr lang="en-US" altLang="zh-TW" sz="1400" smtClean="0"/>
              <a:t>  #10 coin = 10 ;		</a:t>
            </a:r>
            <a:r>
              <a:rPr lang="en-US" altLang="zh-TW" sz="1400" smtClean="0">
                <a:solidFill>
                  <a:srgbClr val="0070C0"/>
                </a:solidFill>
              </a:rPr>
              <a:t>coin </a:t>
            </a:r>
            <a:r>
              <a:rPr lang="en-US" altLang="zh-TW" sz="1400">
                <a:solidFill>
                  <a:srgbClr val="0070C0"/>
                </a:solidFill>
              </a:rPr>
              <a:t>10,	total 10 dollars</a:t>
            </a:r>
            <a:r>
              <a:rPr lang="en-US" altLang="zh-TW" sz="1400">
                <a:solidFill>
                  <a:srgbClr val="0070C0"/>
                </a:solidFill>
              </a:rPr>
              <a:t>	</a:t>
            </a:r>
            <a:r>
              <a:rPr lang="en-US" altLang="zh-TW" sz="1400" smtClean="0">
                <a:solidFill>
                  <a:srgbClr val="0070C0"/>
                </a:solidFill>
              </a:rPr>
              <a:t>tea</a:t>
            </a:r>
          </a:p>
          <a:p>
            <a:pPr marL="82296" indent="0">
              <a:buNone/>
            </a:pPr>
            <a:r>
              <a:rPr lang="en-US" altLang="zh-TW" sz="1400" smtClean="0"/>
              <a:t>  #10 </a:t>
            </a:r>
            <a:r>
              <a:rPr lang="en-US" altLang="zh-TW" sz="1400"/>
              <a:t>coin</a:t>
            </a:r>
            <a:r>
              <a:rPr lang="en-US" altLang="zh-TW" sz="1400" smtClean="0"/>
              <a:t> = 5 ;		</a:t>
            </a:r>
            <a:r>
              <a:rPr lang="en-US" altLang="zh-TW" sz="1400">
                <a:solidFill>
                  <a:srgbClr val="0070C0"/>
                </a:solidFill>
              </a:rPr>
              <a:t>coin 5,	total 15 dollars	tea </a:t>
            </a:r>
            <a:r>
              <a:rPr lang="en-US" altLang="zh-TW" sz="1400">
                <a:solidFill>
                  <a:srgbClr val="0070C0"/>
                </a:solidFill>
              </a:rPr>
              <a:t>| </a:t>
            </a:r>
            <a:r>
              <a:rPr lang="en-US" altLang="zh-TW" sz="1400" smtClean="0">
                <a:solidFill>
                  <a:srgbClr val="0070C0"/>
                </a:solidFill>
              </a:rPr>
              <a:t>coke</a:t>
            </a:r>
          </a:p>
          <a:p>
            <a:pPr marL="82296" indent="0">
              <a:buNone/>
            </a:pPr>
            <a:r>
              <a:rPr lang="en-US" altLang="zh-TW" sz="1400"/>
              <a:t> </a:t>
            </a:r>
            <a:r>
              <a:rPr lang="en-US" altLang="zh-TW" sz="1400" smtClean="0"/>
              <a:t> #10 </a:t>
            </a:r>
            <a:r>
              <a:rPr lang="en-US" altLang="zh-TW" sz="1400"/>
              <a:t>coin</a:t>
            </a:r>
            <a:r>
              <a:rPr lang="en-US" altLang="zh-TW" sz="1400" smtClean="0"/>
              <a:t> = 1 ;		</a:t>
            </a:r>
            <a:r>
              <a:rPr lang="en-US" altLang="zh-TW" sz="1400" smtClean="0">
                <a:solidFill>
                  <a:srgbClr val="0070C0"/>
                </a:solidFill>
              </a:rPr>
              <a:t>coin </a:t>
            </a:r>
            <a:r>
              <a:rPr lang="en-US" altLang="zh-TW" sz="1400">
                <a:solidFill>
                  <a:srgbClr val="0070C0"/>
                </a:solidFill>
              </a:rPr>
              <a:t>1,	total 16 dollars	tea </a:t>
            </a:r>
            <a:r>
              <a:rPr lang="en-US" altLang="zh-TW" sz="1400">
                <a:solidFill>
                  <a:srgbClr val="0070C0"/>
                </a:solidFill>
              </a:rPr>
              <a:t>| </a:t>
            </a:r>
            <a:r>
              <a:rPr lang="en-US" altLang="zh-TW" sz="1400" smtClean="0">
                <a:solidFill>
                  <a:srgbClr val="0070C0"/>
                </a:solidFill>
              </a:rPr>
              <a:t>coke</a:t>
            </a:r>
          </a:p>
          <a:p>
            <a:pPr marL="82296" indent="0">
              <a:buNone/>
            </a:pPr>
            <a:r>
              <a:rPr lang="en-US" altLang="zh-TW" sz="1400" smtClean="0"/>
              <a:t>  #10 </a:t>
            </a:r>
            <a:r>
              <a:rPr lang="en-US" altLang="zh-TW" sz="1400"/>
              <a:t>coin</a:t>
            </a:r>
            <a:r>
              <a:rPr lang="en-US" altLang="zh-TW" sz="1400" smtClean="0"/>
              <a:t> = 10 ;		</a:t>
            </a:r>
            <a:r>
              <a:rPr lang="en-US" altLang="zh-TW" sz="1400">
                <a:solidFill>
                  <a:srgbClr val="0070C0"/>
                </a:solidFill>
              </a:rPr>
              <a:t>coin 10,	total 26 dollars	tea | coke | coffee | milk</a:t>
            </a:r>
          </a:p>
          <a:p>
            <a:pPr marL="82296" indent="0">
              <a:buNone/>
            </a:pPr>
            <a:endParaRPr lang="en-US" altLang="zh-TW" sz="1400" smtClean="0"/>
          </a:p>
          <a:p>
            <a:pPr marL="82296" indent="0">
              <a:buNone/>
            </a:pPr>
            <a:r>
              <a:rPr lang="en-US" altLang="zh-TW" sz="1400"/>
              <a:t> </a:t>
            </a:r>
            <a:r>
              <a:rPr lang="en-US" altLang="zh-TW" sz="1400" smtClean="0"/>
              <a:t> #10 </a:t>
            </a:r>
            <a:r>
              <a:rPr lang="en-US" altLang="zh-TW" sz="1400"/>
              <a:t>coin</a:t>
            </a:r>
            <a:r>
              <a:rPr lang="en-US" altLang="zh-TW" sz="1400" smtClean="0"/>
              <a:t> = 0 ;</a:t>
            </a:r>
          </a:p>
          <a:p>
            <a:pPr marL="82296" indent="0">
              <a:buNone/>
            </a:pPr>
            <a:r>
              <a:rPr lang="en-US" altLang="zh-TW" sz="1400"/>
              <a:t> </a:t>
            </a:r>
            <a:r>
              <a:rPr lang="en-US" altLang="zh-TW" sz="1400" smtClean="0"/>
              <a:t> #10 drink_choose = 3 ; //3=coffee	</a:t>
            </a:r>
            <a:r>
              <a:rPr lang="en-US" altLang="zh-TW" sz="1400">
                <a:solidFill>
                  <a:srgbClr val="0070C0"/>
                </a:solidFill>
              </a:rPr>
              <a:t>coffee </a:t>
            </a:r>
            <a:r>
              <a:rPr lang="en-US" altLang="zh-TW" sz="1400" smtClean="0">
                <a:solidFill>
                  <a:srgbClr val="0070C0"/>
                </a:solidFill>
              </a:rPr>
              <a:t>out</a:t>
            </a:r>
          </a:p>
          <a:p>
            <a:pPr marL="82296" indent="0">
              <a:buNone/>
            </a:pPr>
            <a:r>
              <a:rPr lang="zh-TW" altLang="en-US" sz="1400"/>
              <a:t> </a:t>
            </a:r>
            <a:r>
              <a:rPr lang="zh-TW" altLang="en-US" sz="1400" smtClean="0"/>
              <a:t> </a:t>
            </a:r>
            <a:r>
              <a:rPr lang="en-US" altLang="zh-TW" sz="1400" smtClean="0"/>
              <a:t>#10 drink_choose = 0 ;</a:t>
            </a:r>
            <a:endParaRPr lang="en-US" altLang="zh-TW" sz="1400"/>
          </a:p>
          <a:p>
            <a:pPr marL="82296" indent="0">
              <a:buNone/>
            </a:pPr>
            <a:r>
              <a:rPr lang="en-US" altLang="zh-TW" sz="1400" smtClean="0"/>
              <a:t>			</a:t>
            </a:r>
            <a:r>
              <a:rPr lang="en-US" altLang="zh-TW" sz="1400">
                <a:solidFill>
                  <a:srgbClr val="0070C0"/>
                </a:solidFill>
              </a:rPr>
              <a:t>exchange </a:t>
            </a:r>
            <a:r>
              <a:rPr lang="en-US" altLang="zh-TW" sz="1400">
                <a:solidFill>
                  <a:srgbClr val="0070C0"/>
                </a:solidFill>
              </a:rPr>
              <a:t>6 </a:t>
            </a:r>
            <a:r>
              <a:rPr lang="en-US" altLang="zh-TW" sz="1400" smtClean="0">
                <a:solidFill>
                  <a:srgbClr val="0070C0"/>
                </a:solidFill>
              </a:rPr>
              <a:t>dollars</a:t>
            </a:r>
          </a:p>
          <a:p>
            <a:pPr marL="82296" indent="0">
              <a:buNone/>
            </a:pPr>
            <a:r>
              <a:rPr lang="en-US" altLang="zh-TW" sz="1400" smtClean="0"/>
              <a:t>end</a:t>
            </a:r>
          </a:p>
          <a:p>
            <a:pPr marL="82296" indent="0">
              <a:buNone/>
            </a:pPr>
            <a:r>
              <a:rPr lang="en-US" altLang="zh-TW" sz="1400" smtClean="0"/>
              <a:t>endmodule</a:t>
            </a:r>
          </a:p>
          <a:p>
            <a:pPr marL="82296" indent="0">
              <a:buNone/>
            </a:pPr>
            <a:endParaRPr lang="en-US" altLang="zh-TW" sz="1400" smtClean="0"/>
          </a:p>
        </p:txBody>
      </p:sp>
    </p:spTree>
    <p:extLst>
      <p:ext uri="{BB962C8B-B14F-4D97-AF65-F5344CB8AC3E}">
        <p14:creationId xmlns:p14="http://schemas.microsoft.com/office/powerpoint/2010/main" val="3365787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其他說明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未使用有限狀態機不予給</a:t>
            </a:r>
            <a:r>
              <a:rPr lang="zh-TW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endParaRPr lang="en-US" altLang="zh-TW" sz="28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請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盡可能測試所有狀況，評分依據包含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測試數據完整度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及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程式</a:t>
            </a:r>
            <a:r>
              <a:rPr lang="zh-TW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內容</a:t>
            </a:r>
            <a:endParaRPr lang="en-US" altLang="zh-TW" sz="28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zh-TW" alt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請</a:t>
            </a:r>
            <a:r>
              <a:rPr lang="zh-TW" altLang="en-US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勿</a:t>
            </a:r>
            <a:r>
              <a:rPr lang="zh-TW" altLang="en-US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抄襲</a:t>
            </a:r>
            <a:r>
              <a:rPr lang="zh-TW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其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他人的程式碼</a:t>
            </a:r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/>
              <a:t>Deadline</a:t>
            </a:r>
            <a:r>
              <a:rPr lang="zh-TW" altLang="en-US" sz="2800"/>
              <a:t>為</a:t>
            </a:r>
            <a:r>
              <a:rPr lang="en-US" altLang="zh-TW" sz="2800" smtClean="0"/>
              <a:t>12/25(</a:t>
            </a:r>
            <a:r>
              <a:rPr lang="zh-TW" altLang="en-US" sz="2800" smtClean="0"/>
              <a:t>三</a:t>
            </a:r>
            <a:r>
              <a:rPr lang="en-US" altLang="zh-TW" sz="2800" smtClean="0"/>
              <a:t>)</a:t>
            </a:r>
            <a:r>
              <a:rPr lang="zh-TW" altLang="en-US" sz="2800"/>
              <a:t>晚上</a:t>
            </a:r>
            <a:r>
              <a:rPr lang="en-US" altLang="zh-TW" sz="2800" smtClean="0"/>
              <a:t>23:59</a:t>
            </a:r>
            <a:r>
              <a:rPr lang="zh-TW" altLang="en-US" sz="2800" smtClean="0"/>
              <a:t>，</a:t>
            </a:r>
            <a:r>
              <a:rPr lang="en-US" altLang="zh-TW" sz="2800" smtClean="0"/>
              <a:t>12/26(</a:t>
            </a:r>
            <a:r>
              <a:rPr lang="zh-TW" altLang="en-US" sz="2800" smtClean="0"/>
              <a:t>四</a:t>
            </a:r>
            <a:r>
              <a:rPr lang="en-US" altLang="zh-TW" sz="2800" smtClean="0"/>
              <a:t>)</a:t>
            </a:r>
            <a:r>
              <a:rPr lang="zh-TW" altLang="en-US" sz="2800" smtClean="0"/>
              <a:t>上課時間機測。</a:t>
            </a:r>
            <a:endParaRPr lang="en-US" altLang="zh-TW" sz="2800" smtClean="0"/>
          </a:p>
          <a:p>
            <a:pPr marL="82296" indent="0">
              <a:buNone/>
            </a:pPr>
            <a:endParaRPr lang="en-US" altLang="zh-TW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完成</a:t>
            </a:r>
            <a:r>
              <a:rPr lang="zh-TW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後</a:t>
            </a:r>
            <a:r>
              <a:rPr lang="zh-TW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請</a:t>
            </a:r>
            <a:r>
              <a:rPr lang="zh-TW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zh-TW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傳</a:t>
            </a:r>
            <a:r>
              <a:rPr lang="zh-TW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並</a:t>
            </a:r>
            <a:r>
              <a:rPr lang="zh-TW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找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助教</a:t>
            </a:r>
            <a:r>
              <a:rPr lang="zh-TW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機</a:t>
            </a:r>
            <a:r>
              <a:rPr lang="zh-TW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測</a:t>
            </a:r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532</TotalTime>
  <Words>170</Words>
  <Application>Microsoft Office PowerPoint</Application>
  <PresentationFormat>如螢幕大小 (4:3)</PresentationFormat>
  <Paragraphs>54</Paragraphs>
  <Slides>6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微軟正黑體</vt:lpstr>
      <vt:lpstr>Gill Sans MT</vt:lpstr>
      <vt:lpstr>Times New Roman</vt:lpstr>
      <vt:lpstr>Verdana</vt:lpstr>
      <vt:lpstr>Wingdings 2</vt:lpstr>
      <vt:lpstr>夏至</vt:lpstr>
      <vt:lpstr>Visio</vt:lpstr>
      <vt:lpstr>Project 自動販賣機</vt:lpstr>
      <vt:lpstr>說明</vt:lpstr>
      <vt:lpstr>說明</vt:lpstr>
      <vt:lpstr>說明</vt:lpstr>
      <vt:lpstr>測試數據範例</vt:lpstr>
      <vt:lpstr>其他說明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LAB4</dc:title>
  <dc:creator>lab</dc:creator>
  <cp:lastModifiedBy>lab701a-7</cp:lastModifiedBy>
  <cp:revision>66</cp:revision>
  <dcterms:created xsi:type="dcterms:W3CDTF">2010-11-03T13:22:32Z</dcterms:created>
  <dcterms:modified xsi:type="dcterms:W3CDTF">2019-12-03T08:58:55Z</dcterms:modified>
</cp:coreProperties>
</file>